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63928"/>
  </p:normalViewPr>
  <p:slideViewPr>
    <p:cSldViewPr snapToGrid="0" snapToObjects="1">
      <p:cViewPr varScale="1">
        <p:scale>
          <a:sx n="135" d="100"/>
          <a:sy n="135" d="100"/>
        </p:scale>
        <p:origin x="10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21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Ziel</a:t>
            </a:r>
          </a:p>
          <a:p>
            <a:r>
              <a:rPr lang="de-DE" dirty="0"/>
              <a:t>Ziel der Challenge war es, eine Cloud-Umgebung für eine Single Page </a:t>
            </a:r>
            <a:r>
              <a:rPr lang="de-DE" dirty="0" err="1"/>
              <a:t>Application</a:t>
            </a:r>
            <a:r>
              <a:rPr lang="de-DE" dirty="0"/>
              <a:t> zu entwerfen und gleichzeitig eine vollständig automatisierte CI/CD-Pipeline bereitzustellen.</a:t>
            </a:r>
            <a:br>
              <a:rPr lang="de-DE" dirty="0"/>
            </a:br>
            <a:r>
              <a:rPr lang="de-DE" dirty="0"/>
              <a:t>Dabei lag der Fokus vor allem darauf, moderne Cloud-native Technologien zu nutzen und eine Lösung zu entwickeln, die sich gut skalieren lässt und möglichst wenig operativen Aufwand verursacht.</a:t>
            </a:r>
          </a:p>
          <a:p>
            <a:endParaRPr lang="de-DE" dirty="0"/>
          </a:p>
          <a:p>
            <a:r>
              <a:rPr lang="de-DE" b="1" dirty="0"/>
              <a:t>Technologie-Stack</a:t>
            </a:r>
          </a:p>
          <a:p>
            <a:r>
              <a:rPr lang="de-DE" dirty="0"/>
              <a:t>Die Anwendung selbst besteht aus drei Komponenten.</a:t>
            </a:r>
            <a:br>
              <a:rPr lang="de-DE" dirty="0"/>
            </a:br>
            <a:r>
              <a:rPr lang="de-DE" dirty="0"/>
              <a:t>Einem </a:t>
            </a:r>
            <a:r>
              <a:rPr lang="de-DE" dirty="0" err="1"/>
              <a:t>Vue.js</a:t>
            </a:r>
            <a:r>
              <a:rPr lang="de-DE" dirty="0"/>
              <a:t> Frontend, einem </a:t>
            </a:r>
            <a:r>
              <a:rPr lang="de-DE" dirty="0" err="1"/>
              <a:t>Node.js</a:t>
            </a:r>
            <a:r>
              <a:rPr lang="de-DE" dirty="0"/>
              <a:t> Backend sowie einer MongoDB-kompatiblen NoSQL-Datenbank.</a:t>
            </a:r>
            <a:br>
              <a:rPr lang="de-DE" dirty="0"/>
            </a:br>
            <a:r>
              <a:rPr lang="de-DE" dirty="0"/>
              <a:t>Die Herausforderung bestand also darin, diese Komponenten sinnvoll in einer Cloud-Architektur abzubilden und gleichzeitig einen automatisierten Deployment-Prozess aufzubauen.</a:t>
            </a:r>
          </a:p>
          <a:p>
            <a:endParaRPr lang="de-DE" dirty="0"/>
          </a:p>
          <a:p>
            <a:r>
              <a:rPr lang="de-DE" b="1" dirty="0"/>
              <a:t>Anforderungen</a:t>
            </a:r>
          </a:p>
          <a:p>
            <a:r>
              <a:rPr lang="de-DE" dirty="0"/>
              <a:t>Zusätzlich gab es einige Rahmenbedingungen.</a:t>
            </a:r>
            <a:br>
              <a:rPr lang="de-DE" dirty="0"/>
            </a:br>
            <a:r>
              <a:rPr lang="de-DE" dirty="0"/>
              <a:t>Die Lösung sollte auf Microsoft Azure laufen und bevorzugt </a:t>
            </a:r>
            <a:r>
              <a:rPr lang="de-DE" dirty="0" err="1"/>
              <a:t>Platform</a:t>
            </a:r>
            <a:r>
              <a:rPr lang="de-DE" dirty="0"/>
              <a:t>-</a:t>
            </a:r>
            <a:r>
              <a:rPr lang="de-DE" dirty="0" err="1"/>
              <a:t>as</a:t>
            </a:r>
            <a:r>
              <a:rPr lang="de-DE" dirty="0"/>
              <a:t>-a-Service Komponenten verwenden.</a:t>
            </a:r>
            <a:br>
              <a:rPr lang="de-DE" dirty="0"/>
            </a:br>
            <a:r>
              <a:rPr lang="de-DE" dirty="0"/>
              <a:t>Außerdem sollte die komplette Infrastruktur als Code beschrieben werden, sodass Deployments reproduzierbar sind.</a:t>
            </a:r>
            <a:br>
              <a:rPr lang="de-DE" dirty="0"/>
            </a:br>
            <a:r>
              <a:rPr lang="de-DE" dirty="0"/>
              <a:t>Und ein weiterer wichtiger Punkt war, dass sowohl Infrastruktur als auch Anwendung automatisiert über CI/CD Pipelines ausgerollt werden.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Gewählte Lösung</a:t>
            </a:r>
          </a:p>
          <a:p>
            <a:r>
              <a:rPr lang="de-DE" dirty="0"/>
              <a:t>Für die Architektur habe ich mich bewusst für eine PaaS-first Lösung entschieden.</a:t>
            </a:r>
            <a:br>
              <a:rPr lang="de-DE" dirty="0"/>
            </a:br>
            <a:r>
              <a:rPr lang="de-DE" dirty="0"/>
              <a:t>Das Frontend wird über Azure Static Web Apps ausgeliefert. Dieser Dienst bietet eine sehr einfache Integration mit GitHub und stellt automatisch CDN-Funktionalität und Skalierung bereit.</a:t>
            </a:r>
          </a:p>
          <a:p>
            <a:r>
              <a:rPr lang="de-DE" dirty="0"/>
              <a:t>Das Backend läuft auf Azure App Service, was eine gemanagte Laufzeitumgebung für </a:t>
            </a:r>
            <a:r>
              <a:rPr lang="de-DE" dirty="0" err="1"/>
              <a:t>Node.js</a:t>
            </a:r>
            <a:r>
              <a:rPr lang="de-DE" dirty="0"/>
              <a:t> bietet. Dadurch muss ich mich nicht um Infrastruktur oder Container-Orchestrierung kümmern.</a:t>
            </a:r>
          </a:p>
          <a:p>
            <a:r>
              <a:rPr lang="de-DE" dirty="0"/>
              <a:t>Für die Datenbank habe ich Azure </a:t>
            </a:r>
            <a:r>
              <a:rPr lang="de-DE" dirty="0" err="1"/>
              <a:t>Cosmos</a:t>
            </a:r>
            <a:r>
              <a:rPr lang="de-DE" dirty="0"/>
              <a:t> DB mit MongoDB API gewählt. Damit bleibt die Kompatibilität zum bestehenden Technologie-Stack erhalten.</a:t>
            </a:r>
          </a:p>
          <a:p>
            <a:r>
              <a:rPr lang="de-DE" dirty="0"/>
              <a:t>Zusätzlich nutze ich Azure Key </a:t>
            </a:r>
            <a:r>
              <a:rPr lang="de-DE" dirty="0" err="1"/>
              <a:t>Vault</a:t>
            </a:r>
            <a:r>
              <a:rPr lang="de-DE" dirty="0"/>
              <a:t> für Secrets und Konfiguration sowie Azure Monitor und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Insights</a:t>
            </a:r>
            <a:r>
              <a:rPr lang="de-DE" dirty="0"/>
              <a:t> für Monitoring und </a:t>
            </a:r>
            <a:r>
              <a:rPr lang="de-DE" dirty="0" err="1"/>
              <a:t>Observability</a:t>
            </a:r>
            <a:r>
              <a:rPr lang="de-DE" dirty="0"/>
              <a:t>.</a:t>
            </a:r>
          </a:p>
          <a:p>
            <a:br>
              <a:rPr lang="de-DE" dirty="0"/>
            </a:br>
            <a:r>
              <a:rPr lang="de-DE" b="1" dirty="0"/>
              <a:t>Vorteile von PaaS</a:t>
            </a:r>
          </a:p>
          <a:p>
            <a:r>
              <a:rPr lang="de-DE" dirty="0"/>
              <a:t>Der Hauptgrund für diese Architektur ist der geringe Betriebsaufwand.</a:t>
            </a:r>
            <a:br>
              <a:rPr lang="de-DE" dirty="0"/>
            </a:br>
            <a:r>
              <a:rPr lang="de-DE" dirty="0"/>
              <a:t>Durch die Nutzung von PaaS Services übernimmt Azure viele Aufgaben wie Skalierung, Hochverfügbarkeit und Wartung der Infrastruktur.</a:t>
            </a:r>
            <a:br>
              <a:rPr lang="de-DE" dirty="0"/>
            </a:br>
            <a:r>
              <a:rPr lang="de-DE" dirty="0"/>
              <a:t>Dadurch kann sich das Team stärker auf die Entwicklung der Anwendung konzentrieren.</a:t>
            </a:r>
          </a:p>
          <a:p>
            <a:br>
              <a:rPr lang="de-DE" dirty="0"/>
            </a:br>
            <a:r>
              <a:rPr lang="de-DE" b="1" dirty="0"/>
              <a:t>Alternative Architektur</a:t>
            </a:r>
          </a:p>
          <a:p>
            <a:r>
              <a:rPr lang="de-DE" dirty="0"/>
              <a:t>Eine alternative Lösung wäre eine containerbasierte Architektur auf Azure Kubernetes Service gewesen.</a:t>
            </a:r>
            <a:br>
              <a:rPr lang="de-DE" dirty="0"/>
            </a:br>
            <a:r>
              <a:rPr lang="de-DE" dirty="0"/>
              <a:t>Das würde mehr Flexibilität und Kontrolle über die Infrastruktur bieten.</a:t>
            </a:r>
            <a:br>
              <a:rPr lang="de-DE" dirty="0"/>
            </a:br>
            <a:r>
              <a:rPr lang="de-DE" dirty="0"/>
              <a:t>Allerdings würde das auch einen deutlich höheren operativen Aufwand bedeuten, da man sich um Clusterbetrieb, Updates und Monitoring kümmern müsste.</a:t>
            </a:r>
            <a:br>
              <a:rPr lang="de-DE" dirty="0"/>
            </a:br>
            <a:r>
              <a:rPr lang="de-DE" dirty="0"/>
              <a:t>Deshalb habe ich mich für die PaaS-basierte Variante entschieden.</a:t>
            </a:r>
          </a:p>
          <a:p>
            <a:r>
              <a:rPr lang="de-DE" dirty="0"/>
              <a:t>Übergang:</a:t>
            </a:r>
          </a:p>
          <a:p>
            <a:r>
              <a:rPr lang="de-DE" dirty="0"/>
              <a:t>Nachdem die Architektur feststand, war der nächste Schritt die Definition der Infrastruktur als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Warum Terraform</a:t>
            </a:r>
          </a:p>
          <a:p>
            <a:r>
              <a:rPr lang="de-DE" dirty="0"/>
              <a:t>Für die Umsetzung der Infrastruktur als Code habe ich Terraform gewählt.</a:t>
            </a:r>
            <a:br>
              <a:rPr lang="de-DE" dirty="0"/>
            </a:br>
            <a:r>
              <a:rPr lang="de-DE" dirty="0"/>
              <a:t>Terraform ist ein weit verbreitetes Tool im </a:t>
            </a:r>
            <a:r>
              <a:rPr lang="de-DE" dirty="0" err="1"/>
              <a:t>DevOps</a:t>
            </a:r>
            <a:r>
              <a:rPr lang="de-DE" dirty="0"/>
              <a:t>-Umfeld und eignet sich sehr gut für die Beschreibung von Cloud-Infrastruktur.</a:t>
            </a:r>
          </a:p>
          <a:p>
            <a:r>
              <a:rPr lang="de-DE" dirty="0"/>
              <a:t>Ein großer Vorteil ist, dass die komplette Infrastruktur versioniert im </a:t>
            </a:r>
            <a:r>
              <a:rPr lang="de-DE" dirty="0" err="1"/>
              <a:t>Git</a:t>
            </a:r>
            <a:r>
              <a:rPr lang="de-DE" dirty="0"/>
              <a:t>-Repository liegt.</a:t>
            </a:r>
            <a:br>
              <a:rPr lang="de-DE" dirty="0"/>
            </a:br>
            <a:r>
              <a:rPr lang="de-DE" dirty="0"/>
              <a:t>Dadurch sind Änderungen nachvollziehbar und Deployments reproduzierbar.</a:t>
            </a:r>
            <a:br>
              <a:rPr lang="de-DE" dirty="0"/>
            </a:br>
            <a:r>
              <a:rPr lang="de-DE" dirty="0"/>
              <a:t>Außerdem lässt sich Terraform sehr gut in CI/CD-Pipelines integrieren.</a:t>
            </a:r>
          </a:p>
          <a:p>
            <a:br>
              <a:rPr lang="de-DE" dirty="0"/>
            </a:br>
            <a:r>
              <a:rPr lang="de-DE" b="1" dirty="0"/>
              <a:t>Terraform-Umgebungen</a:t>
            </a:r>
          </a:p>
          <a:p>
            <a:r>
              <a:rPr lang="de-DE" dirty="0"/>
              <a:t>Die Infrastruktur habe ich in drei Umgebungen aufgeteilt:</a:t>
            </a:r>
            <a:br>
              <a:rPr lang="de-DE" dirty="0"/>
            </a:br>
            <a:r>
              <a:rPr lang="de-DE" dirty="0"/>
              <a:t>eine Entwicklungsumgebung, eine </a:t>
            </a:r>
            <a:r>
              <a:rPr lang="de-DE" dirty="0" err="1"/>
              <a:t>Staging</a:t>
            </a:r>
            <a:r>
              <a:rPr lang="de-DE" dirty="0"/>
              <a:t>-Umgebung und eine Produktionsumgebung.</a:t>
            </a:r>
          </a:p>
          <a:p>
            <a:r>
              <a:rPr lang="de-DE" dirty="0"/>
              <a:t>Diese Trennung ist wichtig, um Änderungen zunächst in einer sicheren Umgebung testen zu können, bevor sie in Produktion ausgerollt werden.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 die Lösung übersichtlich zu halten, habe ich das Projekt als </a:t>
            </a:r>
            <a:r>
              <a:rPr lang="de-DE" dirty="0" err="1"/>
              <a:t>Monorepo</a:t>
            </a:r>
            <a:r>
              <a:rPr lang="de-DE" dirty="0"/>
              <a:t> strukturiert.</a:t>
            </a:r>
            <a:br>
              <a:rPr lang="de-DE" dirty="0"/>
            </a:br>
            <a:r>
              <a:rPr lang="de-DE" dirty="0"/>
              <a:t>Das bedeutet, dass sowohl Infrastrukturcode als auch Pipeline-Definitionen und Dokumentation im gleichen Repository liegen.</a:t>
            </a:r>
          </a:p>
          <a:p>
            <a:br>
              <a:rPr lang="de-DE" dirty="0"/>
            </a:br>
            <a:r>
              <a:rPr lang="de-DE" b="1" dirty="0"/>
              <a:t>Struktur erklären</a:t>
            </a:r>
          </a:p>
          <a:p>
            <a:r>
              <a:rPr lang="de-DE" dirty="0"/>
              <a:t>Im Ordner </a:t>
            </a:r>
            <a:r>
              <a:rPr lang="de-DE" b="1" dirty="0" err="1"/>
              <a:t>architecture</a:t>
            </a:r>
            <a:r>
              <a:rPr lang="de-DE" dirty="0"/>
              <a:t> befinden sich Architekturdiagramme und Dokumentation.</a:t>
            </a:r>
          </a:p>
          <a:p>
            <a:r>
              <a:rPr lang="de-DE" dirty="0"/>
              <a:t>Der </a:t>
            </a:r>
            <a:r>
              <a:rPr lang="de-DE" b="1" dirty="0" err="1"/>
              <a:t>terraform</a:t>
            </a:r>
            <a:r>
              <a:rPr lang="de-DE" dirty="0"/>
              <a:t>-Ordner enthält die Infrastrukturdefinitionen für die verschiedenen Umgebungen.</a:t>
            </a:r>
          </a:p>
          <a:p>
            <a:r>
              <a:rPr lang="de-DE" dirty="0"/>
              <a:t>Im </a:t>
            </a:r>
            <a:r>
              <a:rPr lang="de-DE" b="1" dirty="0" err="1"/>
              <a:t>pipelines</a:t>
            </a:r>
            <a:r>
              <a:rPr lang="de-DE" dirty="0"/>
              <a:t>-Ordner liegen die CI/CD Pipeline Definitionen.</a:t>
            </a:r>
          </a:p>
          <a:p>
            <a:r>
              <a:rPr lang="de-DE" dirty="0"/>
              <a:t>Und im Ordner </a:t>
            </a:r>
            <a:r>
              <a:rPr lang="de-DE" b="1" dirty="0" err="1"/>
              <a:t>presentation</a:t>
            </a:r>
            <a:r>
              <a:rPr lang="de-DE" dirty="0"/>
              <a:t> befindet sich die Präsentation selbst.</a:t>
            </a:r>
          </a:p>
          <a:p>
            <a:br>
              <a:rPr lang="de-DE" dirty="0"/>
            </a:br>
            <a:r>
              <a:rPr lang="de-DE" b="1" dirty="0"/>
              <a:t>Vorteile</a:t>
            </a:r>
          </a:p>
          <a:p>
            <a:r>
              <a:rPr lang="de-DE" dirty="0"/>
              <a:t>Diese Struktur hat mehrere Vorteile.</a:t>
            </a:r>
            <a:br>
              <a:rPr lang="de-DE" dirty="0"/>
            </a:br>
            <a:r>
              <a:rPr lang="de-DE" dirty="0"/>
              <a:t>Zum einen bleibt die gesamte Historie der Infrastruktur im gleichen Repository.</a:t>
            </a:r>
            <a:br>
              <a:rPr lang="de-DE" dirty="0"/>
            </a:br>
            <a:r>
              <a:rPr lang="de-DE" dirty="0"/>
              <a:t>Zum anderen lassen sich Änderungen an Infrastruktur und Pipeline gemeinsam versionieren.</a:t>
            </a:r>
          </a:p>
          <a:p>
            <a:r>
              <a:rPr lang="de-DE" dirty="0"/>
              <a:t>Übergang:</a:t>
            </a:r>
          </a:p>
          <a:p>
            <a:r>
              <a:rPr lang="de-DE" dirty="0"/>
              <a:t>Auf dieser Basis lässt sich dann eine vollständig automatisierte CI/CD Pipeline aufbauen.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/>
              <a:t>Continuous</a:t>
            </a:r>
            <a:r>
              <a:rPr lang="de-DE" b="1" dirty="0"/>
              <a:t> Integration</a:t>
            </a:r>
          </a:p>
          <a:p>
            <a:r>
              <a:rPr lang="de-DE" dirty="0"/>
              <a:t>Die CI-Pipeline wird bei jedem Commit gestartet.</a:t>
            </a:r>
          </a:p>
          <a:p>
            <a:r>
              <a:rPr lang="de-DE" dirty="0"/>
              <a:t>Zunächst wird der Code aus dem Repository ausgecheckt und die notwendigen Abhängigkeiten installiert.</a:t>
            </a:r>
            <a:br>
              <a:rPr lang="de-DE" dirty="0"/>
            </a:br>
            <a:r>
              <a:rPr lang="de-DE" dirty="0"/>
              <a:t>Danach wird das Frontend gebaut und das Backend getestet.</a:t>
            </a:r>
          </a:p>
          <a:p>
            <a:br>
              <a:rPr lang="de-DE" dirty="0"/>
            </a:br>
            <a:r>
              <a:rPr lang="de-DE" b="1" dirty="0" err="1"/>
              <a:t>Continuous</a:t>
            </a:r>
            <a:r>
              <a:rPr lang="de-DE" b="1" dirty="0"/>
              <a:t> Deployment</a:t>
            </a:r>
          </a:p>
          <a:p>
            <a:r>
              <a:rPr lang="de-DE" dirty="0"/>
              <a:t>Im Deployment-Schritt wird zunächst Terraform initialisiert und ein Terraform Plan erstellt, um geplante Änderungen sichtbar zu machen.</a:t>
            </a:r>
          </a:p>
          <a:p>
            <a:r>
              <a:rPr lang="de-DE" dirty="0"/>
              <a:t>Anschließend wird die Infrastruktur über Terraform </a:t>
            </a:r>
            <a:r>
              <a:rPr lang="de-DE" dirty="0" err="1"/>
              <a:t>Apply</a:t>
            </a:r>
            <a:r>
              <a:rPr lang="de-DE" dirty="0"/>
              <a:t> ausgerollt.</a:t>
            </a:r>
            <a:br>
              <a:rPr lang="de-DE" dirty="0"/>
            </a:br>
            <a:r>
              <a:rPr lang="de-DE" dirty="0"/>
              <a:t>Danach erfolgt das Deployment der Anwendung auf die entsprechenden Azure Services.</a:t>
            </a:r>
          </a:p>
          <a:p>
            <a:br>
              <a:rPr lang="de-DE" dirty="0"/>
            </a:br>
            <a:r>
              <a:rPr lang="de-DE" b="1" dirty="0"/>
              <a:t>Ziel</a:t>
            </a:r>
          </a:p>
          <a:p>
            <a:r>
              <a:rPr lang="de-DE" dirty="0"/>
              <a:t>Das Ziel dieser Pipeline ist es, den gesamten Prozess von Code-Commit bis Deployment vollständig zu automatisieren und reproduzierbar zu machen.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/>
              <a:t>Branching</a:t>
            </a:r>
            <a:r>
              <a:rPr lang="de-DE" b="1" dirty="0"/>
              <a:t> Modell</a:t>
            </a:r>
          </a:p>
          <a:p>
            <a:r>
              <a:rPr lang="de-DE" dirty="0"/>
              <a:t>Für die Zusammenarbeit im Team habe ich ein einfaches </a:t>
            </a:r>
            <a:r>
              <a:rPr lang="de-DE" dirty="0" err="1"/>
              <a:t>Git</a:t>
            </a:r>
            <a:r>
              <a:rPr lang="de-DE" dirty="0"/>
              <a:t>-Flow ähnliches Modell gewählt.</a:t>
            </a:r>
          </a:p>
          <a:p>
            <a:r>
              <a:rPr lang="de-DE" dirty="0"/>
              <a:t>Feature-</a:t>
            </a:r>
            <a:r>
              <a:rPr lang="de-DE" dirty="0" err="1"/>
              <a:t>Branches</a:t>
            </a:r>
            <a:r>
              <a:rPr lang="de-DE" dirty="0"/>
              <a:t> werden für neue Entwicklungen genutzt und anschließend über Pull </a:t>
            </a:r>
            <a:r>
              <a:rPr lang="de-DE" dirty="0" err="1"/>
              <a:t>Requests</a:t>
            </a:r>
            <a:r>
              <a:rPr lang="de-DE" dirty="0"/>
              <a:t> in den </a:t>
            </a:r>
            <a:r>
              <a:rPr lang="de-DE" dirty="0" err="1"/>
              <a:t>Develop</a:t>
            </a:r>
            <a:r>
              <a:rPr lang="de-DE" dirty="0"/>
              <a:t> Branch integriert.</a:t>
            </a:r>
          </a:p>
          <a:p>
            <a:br>
              <a:rPr lang="de-DE" dirty="0"/>
            </a:br>
            <a:r>
              <a:rPr lang="de-DE" b="1" dirty="0"/>
              <a:t>Deployment</a:t>
            </a:r>
          </a:p>
          <a:p>
            <a:r>
              <a:rPr lang="de-DE" dirty="0"/>
              <a:t>Der </a:t>
            </a:r>
            <a:r>
              <a:rPr lang="de-DE" dirty="0" err="1"/>
              <a:t>Develop</a:t>
            </a:r>
            <a:r>
              <a:rPr lang="de-DE" dirty="0"/>
              <a:t> Branch wird automatisch in die Entwicklungsumgebung deployt.</a:t>
            </a:r>
            <a:br>
              <a:rPr lang="de-DE" dirty="0"/>
            </a:br>
            <a:r>
              <a:rPr lang="de-DE" dirty="0"/>
              <a:t>Die </a:t>
            </a:r>
            <a:r>
              <a:rPr lang="de-DE" dirty="0" err="1"/>
              <a:t>Staging</a:t>
            </a:r>
            <a:r>
              <a:rPr lang="de-DE" dirty="0"/>
              <a:t>-Umgebung dient für Integrationstests.</a:t>
            </a:r>
            <a:br>
              <a:rPr lang="de-DE" dirty="0"/>
            </a:br>
            <a:r>
              <a:rPr lang="de-DE" dirty="0"/>
              <a:t>Und Deployments in Produktion erfolgen ausschließlich über den Main Branch.</a:t>
            </a:r>
          </a:p>
          <a:p>
            <a:br>
              <a:rPr lang="de-DE" dirty="0"/>
            </a:br>
            <a:r>
              <a:rPr lang="de-DE" b="1" dirty="0"/>
              <a:t>Absicherung Produktion</a:t>
            </a:r>
          </a:p>
          <a:p>
            <a:r>
              <a:rPr lang="de-DE" dirty="0"/>
              <a:t>Um die Produktionsumgebung zu schützen, ist der Main Branch geschützt.</a:t>
            </a:r>
            <a:br>
              <a:rPr lang="de-DE" dirty="0"/>
            </a:br>
            <a:r>
              <a:rPr lang="de-DE" dirty="0"/>
              <a:t>Änderungen können nur über Pull </a:t>
            </a:r>
            <a:r>
              <a:rPr lang="de-DE" dirty="0" err="1"/>
              <a:t>Requests</a:t>
            </a:r>
            <a:r>
              <a:rPr lang="de-DE" dirty="0"/>
              <a:t> erfolgen, und die CI Pipeline muss erfolgreich durchlaufen.</a:t>
            </a:r>
            <a:br>
              <a:rPr lang="de-DE" dirty="0"/>
            </a:br>
            <a:r>
              <a:rPr lang="de-DE" dirty="0"/>
              <a:t>Zusätzlich gibt es ein manuelles Freigabe-Gate für </a:t>
            </a:r>
            <a:r>
              <a:rPr lang="de-DE" dirty="0" err="1"/>
              <a:t>Production</a:t>
            </a:r>
            <a:r>
              <a:rPr lang="de-DE" dirty="0"/>
              <a:t> Deployments.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Zusammenfassend habe ich eine </a:t>
            </a:r>
            <a:r>
              <a:rPr lang="de-DE" dirty="0" err="1"/>
              <a:t>cloud</a:t>
            </a:r>
            <a:r>
              <a:rPr lang="de-DE" dirty="0"/>
              <a:t>-native Architektur auf Azure entworfen, die vollständig auf PaaS Services basiert.</a:t>
            </a:r>
          </a:p>
          <a:p>
            <a:r>
              <a:rPr lang="de-DE" dirty="0"/>
              <a:t>Die Infrastruktur wird über Terraform definiert und ist damit versioniert und reproduzierbar.</a:t>
            </a:r>
          </a:p>
          <a:p>
            <a:r>
              <a:rPr lang="de-DE" dirty="0"/>
              <a:t>Durch die CI/CD Pipeline können sowohl Infrastruktur als auch Anwendung automatisiert deployt werden.</a:t>
            </a:r>
          </a:p>
          <a:p>
            <a:r>
              <a:rPr lang="de-DE" dirty="0"/>
              <a:t>Das Ergebnis ist eine skalierbare Lösung mit geringem Betriebsaufwand und schnellen Release-Zyklen.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9D4D407-20AF-6A04-674B-B1D8E9D474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12400" y="4958080"/>
            <a:ext cx="7477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PPI internal --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182880" cy="5143500"/>
          </a:xfrm>
          <a:prstGeom prst="rect">
            <a:avLst/>
          </a:prstGeom>
          <a:solidFill>
            <a:srgbClr val="2A3B8F"/>
          </a:solidFill>
          <a:ln w="12700">
            <a:solidFill>
              <a:srgbClr val="2A3B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06640" y="5892"/>
            <a:ext cx="1737360" cy="5137608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05840" y="1536569"/>
            <a:ext cx="6858000" cy="125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4800" b="1" dirty="0">
                <a:solidFill>
                  <a:schemeClr val="bg1"/>
                </a:solidFill>
              </a:rPr>
              <a:t>PRODYNA Cloud Engineering Task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880360"/>
            <a:ext cx="5029200" cy="0"/>
          </a:xfrm>
          <a:prstGeom prst="line">
            <a:avLst/>
          </a:prstGeom>
          <a:noFill/>
          <a:ln w="254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05840" y="2788921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als Code · Azure PaaS · 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78408" y="114300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Aufgabenstellung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0368" y="114300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1148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8408" y="196596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97280" y="19659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96596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663440" y="196596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30368" y="196596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349240" y="19659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Repository-Struktur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" y="278892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11480" y="278892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8408" y="278892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1097280" y="27889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0" y="278892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30368" y="278892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349240" y="27889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 &amp; Git-Strategie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11480" y="3611880"/>
            <a:ext cx="56692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11480" y="361188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8408" y="3611880"/>
            <a:ext cx="3456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de-DE" dirty="0"/>
          </a:p>
        </p:txBody>
      </p:sp>
      <p:sp>
        <p:nvSpPr>
          <p:cNvPr id="32" name="Text 30"/>
          <p:cNvSpPr/>
          <p:nvPr/>
        </p:nvSpPr>
        <p:spPr>
          <a:xfrm>
            <a:off x="1097280" y="36118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Aufgabenstellung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war zu tun?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93192" y="1188720"/>
            <a:ext cx="2606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5331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353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" y="2240280"/>
            <a:ext cx="22860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Cloud-Umgebung für eine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 CI/CD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Technologien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73552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06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533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1353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56432" y="2240280"/>
            <a:ext cx="22860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 –  Frontend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–  Backend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–  NoSQL-</a:t>
            </a:r>
            <a:r>
              <a:rPr lang="en-US" sz="13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53912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6153912" y="1188720"/>
            <a:ext cx="2606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35331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3533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36792" y="2240280"/>
            <a:ext cx="22860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als Hyperscaler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bevorzugt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+ vollautom. Deployments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Gewählte Architektur auf Azure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605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64008" cy="3520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Gewählte Lösung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664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6771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212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24597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1635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30083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 (MongoDB API)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6499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60120" y="3557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Konfiguration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1363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858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4105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Insights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8"/>
          <p:cNvSpPr/>
          <p:nvPr/>
        </p:nvSpPr>
        <p:spPr>
          <a:xfrm>
            <a:off x="4754880" y="1143000"/>
            <a:ext cx="64008" cy="16002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19"/>
          <p:cNvSpPr/>
          <p:nvPr/>
        </p:nvSpPr>
        <p:spPr>
          <a:xfrm>
            <a:off x="4937760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 PaaS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937760" y="157276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operativer Overhead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Skalierung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Azure Integration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2"/>
          <p:cNvSpPr/>
          <p:nvPr/>
        </p:nvSpPr>
        <p:spPr>
          <a:xfrm>
            <a:off x="4754880" y="2926080"/>
            <a:ext cx="64008" cy="173736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3"/>
          <p:cNvSpPr/>
          <p:nvPr/>
        </p:nvSpPr>
        <p:spPr>
          <a:xfrm>
            <a:off x="4937760" y="2990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AKS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937760" y="336499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Flexibilität &amp; Portabilität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Kontrolle über Container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Deutlich höherer Betriebsaufwand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Terraform?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990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Versioniert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im Git-Repo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1234440"/>
            <a:ext cx="192024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3990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060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 Deployments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234440"/>
            <a:ext cx="192024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990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Standard-Tool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548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 verbreitet &amp; bewährt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812280" y="1234440"/>
            <a:ext cx="192024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39903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CI/CD-ready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90372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Pipeline-Integration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114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Terraform-Umgebungen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65760" y="3246120"/>
            <a:ext cx="2651760" cy="822960"/>
          </a:xfrm>
          <a:prstGeom prst="rect">
            <a:avLst/>
          </a:prstGeom>
          <a:solidFill>
            <a:srgbClr val="253070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7"/>
          <p:cNvSpPr/>
          <p:nvPr/>
        </p:nvSpPr>
        <p:spPr>
          <a:xfrm>
            <a:off x="365760" y="3246120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18"/>
          <p:cNvSpPr/>
          <p:nvPr/>
        </p:nvSpPr>
        <p:spPr>
          <a:xfrm>
            <a:off x="54864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Entwicklungsumgebung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73552" y="3246120"/>
            <a:ext cx="2651760" cy="822960"/>
          </a:xfrm>
          <a:prstGeom prst="rect">
            <a:avLst/>
          </a:prstGeom>
          <a:solidFill>
            <a:srgbClr val="25307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1"/>
          <p:cNvSpPr/>
          <p:nvPr/>
        </p:nvSpPr>
        <p:spPr>
          <a:xfrm>
            <a:off x="3273552" y="3246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/>
          <p:nvPr/>
        </p:nvSpPr>
        <p:spPr>
          <a:xfrm>
            <a:off x="3456432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456432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 &amp; Integrationsumgebung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181344" y="3246120"/>
            <a:ext cx="2651760" cy="822960"/>
          </a:xfrm>
          <a:prstGeom prst="rect">
            <a:avLst/>
          </a:prstGeom>
          <a:solidFill>
            <a:srgbClr val="253070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5"/>
          <p:cNvSpPr/>
          <p:nvPr/>
        </p:nvSpPr>
        <p:spPr>
          <a:xfrm>
            <a:off x="6181344" y="324612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/>
          <p:nvPr/>
        </p:nvSpPr>
        <p:spPr>
          <a:xfrm>
            <a:off x="6364224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364224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Produktionsumgebung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Repository-Struktur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– alles an einem Ort, klar strukturiert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11480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64008" cy="1417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63040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85032" y="1261872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3685032" y="1261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0704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architecture/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0704" y="17099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Architekturdiagramme &amp; Konzepte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90872" y="1143000"/>
            <a:ext cx="411480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690872" y="1143000"/>
            <a:ext cx="64008" cy="1417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463040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28432" y="1261872"/>
            <a:ext cx="65836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2"/>
          <p:cNvSpPr/>
          <p:nvPr/>
        </p:nvSpPr>
        <p:spPr>
          <a:xfrm>
            <a:off x="8028432" y="1261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404104" y="1280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04104" y="17099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Infrastruktur-Definition (IaC)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47472" y="2761488"/>
            <a:ext cx="411480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347472" y="2761488"/>
            <a:ext cx="64008" cy="1417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081528"/>
            <a:ext cx="438912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685032" y="2880360"/>
            <a:ext cx="658368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3685032" y="2880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060704" y="2898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pipelines/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060704" y="332841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90872" y="2761488"/>
            <a:ext cx="4114800" cy="141732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2"/>
          <p:cNvSpPr/>
          <p:nvPr/>
        </p:nvSpPr>
        <p:spPr>
          <a:xfrm>
            <a:off x="4690872" y="2761488"/>
            <a:ext cx="64008" cy="14173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081528"/>
            <a:ext cx="438912" cy="4389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028432" y="2880360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4"/>
          <p:cNvSpPr/>
          <p:nvPr/>
        </p:nvSpPr>
        <p:spPr>
          <a:xfrm>
            <a:off x="8028432" y="2880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404104" y="2898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404104" y="332841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 &amp; Dokumentation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347472" y="4096512"/>
            <a:ext cx="845820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28"/>
          <p:cNvSpPr/>
          <p:nvPr/>
        </p:nvSpPr>
        <p:spPr>
          <a:xfrm>
            <a:off x="347472" y="4096512"/>
            <a:ext cx="8458200" cy="54864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34256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24712" y="4233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Codebasis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24712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Sync-Aufwand zwischen Repos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4334256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913632" y="4233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Historie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3913632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Code gemeinsam versioniert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4334256"/>
            <a:ext cx="320040" cy="32004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702552" y="4233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erweiterbar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702552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Komponenten einfach hinzufügen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Code-Commit bis zum Deployment – vollautomatisch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005840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0058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143000"/>
            <a:ext cx="1389888" cy="150876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13258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72184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Checkout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72184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auschecken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07208" y="1897380"/>
            <a:ext cx="109728" cy="0"/>
          </a:xfrm>
          <a:prstGeom prst="line">
            <a:avLst/>
          </a:prstGeom>
          <a:noFill/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2916936" y="1143000"/>
            <a:ext cx="1389888" cy="150876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258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180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Install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971800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306824" y="1897380"/>
            <a:ext cx="109728" cy="0"/>
          </a:xfrm>
          <a:prstGeom prst="line">
            <a:avLst/>
          </a:prstGeom>
          <a:noFill/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4416552" y="1143000"/>
            <a:ext cx="1389888" cy="150876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13258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71416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471416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kompilieren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806440" y="1897380"/>
            <a:ext cx="109728" cy="0"/>
          </a:xfrm>
          <a:prstGeom prst="line">
            <a:avLst/>
          </a:prstGeom>
          <a:noFill/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5916168" y="1143000"/>
            <a:ext cx="1389888" cy="150876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32588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71032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971032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Node.js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306056" y="1897380"/>
            <a:ext cx="109728" cy="0"/>
          </a:xfrm>
          <a:prstGeom prst="line">
            <a:avLst/>
          </a:prstGeom>
          <a:noFill/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2"/>
          <p:cNvSpPr/>
          <p:nvPr/>
        </p:nvSpPr>
        <p:spPr>
          <a:xfrm>
            <a:off x="7415784" y="1143000"/>
            <a:ext cx="1389888" cy="150876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132588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70648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Application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470648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erstellen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74320" y="2852928"/>
            <a:ext cx="1005840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26"/>
          <p:cNvSpPr/>
          <p:nvPr/>
        </p:nvSpPr>
        <p:spPr>
          <a:xfrm>
            <a:off x="274320" y="2852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274320" y="3355848"/>
            <a:ext cx="10058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1417320" y="2852928"/>
            <a:ext cx="1389888" cy="182880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9384" y="3054096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72184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TF Init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472184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initialisieren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2807208" y="3767328"/>
            <a:ext cx="109728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2"/>
          <p:cNvSpPr/>
          <p:nvPr/>
        </p:nvSpPr>
        <p:spPr>
          <a:xfrm>
            <a:off x="2916936" y="2852928"/>
            <a:ext cx="1389888" cy="182880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054096"/>
            <a:ext cx="347472" cy="34747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971800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TF Plan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2971800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prüfen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4306824" y="3767328"/>
            <a:ext cx="109728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36"/>
          <p:cNvSpPr/>
          <p:nvPr/>
        </p:nvSpPr>
        <p:spPr>
          <a:xfrm>
            <a:off x="4416552" y="2852928"/>
            <a:ext cx="1389888" cy="1828800"/>
          </a:xfrm>
          <a:prstGeom prst="rect">
            <a:avLst/>
          </a:prstGeom>
          <a:solidFill>
            <a:srgbClr val="1A3A2A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8616" y="3054096"/>
            <a:ext cx="347472" cy="34747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471416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Approval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4471416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Freigabe-Gate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5806440" y="3767328"/>
            <a:ext cx="109728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0"/>
          <p:cNvSpPr/>
          <p:nvPr/>
        </p:nvSpPr>
        <p:spPr>
          <a:xfrm>
            <a:off x="5916168" y="2852928"/>
            <a:ext cx="1389888" cy="182880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232" y="3054096"/>
            <a:ext cx="347472" cy="34747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971032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TF Apply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5971032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anwenden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7306056" y="3767328"/>
            <a:ext cx="109728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44"/>
          <p:cNvSpPr/>
          <p:nvPr/>
        </p:nvSpPr>
        <p:spPr>
          <a:xfrm>
            <a:off x="7415784" y="2852928"/>
            <a:ext cx="1389888" cy="182880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7848" y="3054096"/>
            <a:ext cx="347472" cy="34747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470648" y="3474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App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7470648" y="3877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auf Azure deployen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 &amp; Git-Strategie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Branching-Modell &amp; Umgebungsstrategie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0116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801368"/>
            <a:ext cx="0" cy="1828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307592" y="1920240"/>
            <a:ext cx="12801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377440" y="1517904"/>
            <a:ext cx="4572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834640" y="1234440"/>
            <a:ext cx="64008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971800" y="1234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  (Entwicklung)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20116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65760" y="1984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2551176"/>
            <a:ext cx="0" cy="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1307592" y="2670048"/>
            <a:ext cx="128016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377440" y="2267712"/>
            <a:ext cx="4572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2834640" y="1984248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834640" y="1984248"/>
            <a:ext cx="64008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971800" y="19842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  (Integration)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734056"/>
            <a:ext cx="20116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65760" y="27340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71600" y="3300984"/>
            <a:ext cx="0" cy="18288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1307592" y="3419856"/>
            <a:ext cx="12801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2377440" y="301752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2834640" y="2734056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834640" y="2734056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2971800" y="27340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staging  (Test)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483864"/>
            <a:ext cx="201168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65760" y="3483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377440" y="3767328"/>
            <a:ext cx="4572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2834640" y="3483864"/>
            <a:ext cx="21945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2834640" y="3483864"/>
            <a:ext cx="64008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2971800" y="34838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  (Produktion)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77840" y="1207008"/>
            <a:ext cx="3200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5577840" y="1207008"/>
            <a:ext cx="64008" cy="361188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760720" y="1298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Absicherung Produktion</a:t>
            </a:r>
            <a:endParaRPr lang="en-US" sz="14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83664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144768" y="18105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main branch</a:t>
            </a:r>
            <a:endParaRPr lang="en-US" sz="12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432304"/>
            <a:ext cx="274320" cy="2743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144768" y="23591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verpflichtend</a:t>
            </a:r>
            <a:endParaRPr lang="en-US" sz="120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980944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144768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muss grün sein</a:t>
            </a:r>
            <a:endParaRPr lang="en-US" sz="1200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529584"/>
            <a:ext cx="274320" cy="27432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144768" y="3456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Freigabe-Gate</a:t>
            </a:r>
            <a:endParaRPr lang="en-US" sz="12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4078224"/>
            <a:ext cx="274320" cy="27432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144768" y="4005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direkten Pushes auf main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 erreicht?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651760" cy="260604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65176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43560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" y="26883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 auf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15568"/>
            <a:ext cx="2651760" cy="260604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3200400" y="1115568"/>
            <a:ext cx="265176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43560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37560" y="26883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Deployment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Commit bis Prod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53328" y="1115568"/>
            <a:ext cx="2651760" cy="2606040"/>
          </a:xfrm>
          <a:prstGeom prst="rect">
            <a:avLst/>
          </a:prstGeom>
          <a:solidFill>
            <a:srgbClr val="253070"/>
          </a:solidFill>
          <a:ln w="6350">
            <a:solidFill>
              <a:srgbClr val="3A4F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6053328" y="1115568"/>
            <a:ext cx="265176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143560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1945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Abgesichert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190488" y="268833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Branches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manuelle Gates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47472" y="3886200"/>
            <a:ext cx="8458200" cy="1005840"/>
          </a:xfrm>
          <a:prstGeom prst="rect">
            <a:avLst/>
          </a:prstGeom>
          <a:solidFill>
            <a:srgbClr val="162050"/>
          </a:solidFill>
          <a:ln w="12700">
            <a:solidFill>
              <a:srgbClr val="3A4F9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347472" y="3886200"/>
            <a:ext cx="8458200" cy="54864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788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52728" y="4142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Skalierbarkeit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17880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41648" y="4142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Geringer Betriebsaufwand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17880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30568" y="41422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Release-Zyklen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Macintosh PowerPoint</Application>
  <PresentationFormat>Bildschirmpräsentation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PRODYNA Cloud Challenge</dc:title>
  <dc:subject>PptxGenJS Presentation</dc:subject>
  <dc:creator>PptxGenJS</dc:creator>
  <cp:lastModifiedBy>Robin Brandoni</cp:lastModifiedBy>
  <cp:revision>15</cp:revision>
  <dcterms:created xsi:type="dcterms:W3CDTF">2026-03-13T10:16:03Z</dcterms:created>
  <dcterms:modified xsi:type="dcterms:W3CDTF">2026-03-13T14:28:40Z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b1ea1dd-bac9-4de4-8851-d669099b1428_Enabled">
    <vt:lpwstr>true</vt:lpwstr>
  </property>
  <property fmtid="{D5CDD505-2E9C-101B-9397-08002B2CF9AE}" pid="3" name="MSIP_Label_ab1ea1dd-bac9-4de4-8851-d669099b1428_SetDate">
    <vt:lpwstr>2026-03-13T11:51:06Z</vt:lpwstr>
  </property>
  <property fmtid="{D5CDD505-2E9C-101B-9397-08002B2CF9AE}" pid="4" name="MSIP_Label_ab1ea1dd-bac9-4de4-8851-d669099b1428_Method">
    <vt:lpwstr>Standard</vt:lpwstr>
  </property>
  <property fmtid="{D5CDD505-2E9C-101B-9397-08002B2CF9AE}" pid="5" name="MSIP_Label_ab1ea1dd-bac9-4de4-8851-d669099b1428_Name">
    <vt:lpwstr>internal</vt:lpwstr>
  </property>
  <property fmtid="{D5CDD505-2E9C-101B-9397-08002B2CF9AE}" pid="6" name="MSIP_Label_ab1ea1dd-bac9-4de4-8851-d669099b1428_SiteId">
    <vt:lpwstr>e0b58b8f-6524-4354-a672-42b0d236fa6d</vt:lpwstr>
  </property>
  <property fmtid="{D5CDD505-2E9C-101B-9397-08002B2CF9AE}" pid="7" name="MSIP_Label_ab1ea1dd-bac9-4de4-8851-d669099b1428_ActionId">
    <vt:lpwstr>11f88a1a-eafc-4cd9-80e6-4ae25b81db86</vt:lpwstr>
  </property>
  <property fmtid="{D5CDD505-2E9C-101B-9397-08002B2CF9AE}" pid="8" name="MSIP_Label_ab1ea1dd-bac9-4de4-8851-d669099b1428_ContentBits">
    <vt:lpwstr>2</vt:lpwstr>
  </property>
  <property fmtid="{D5CDD505-2E9C-101B-9397-08002B2CF9AE}" pid="9" name="MSIP_Label_ab1ea1dd-bac9-4de4-8851-d669099b1428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-- PPI internal --</vt:lpwstr>
  </property>
</Properties>
</file>